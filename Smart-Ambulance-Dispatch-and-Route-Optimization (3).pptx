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embeddedFontLst>
    <p:embeddedFont>
      <p:font typeface="Geist" panose="020B0604020202020204" charset="0"/>
      <p:regular r:id="rId12"/>
    </p:embeddedFont>
    <p:embeddedFont>
      <p:font typeface="Geist Bold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3092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-2-6.svg"/><Relationship Id="rId3" Type="http://schemas.openxmlformats.org/officeDocument/2006/relationships/image" Target="../media/image4.png"/><Relationship Id="rId7" Type="http://schemas.openxmlformats.org/officeDocument/2006/relationships/image" Target="../media/image-2-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-2-2.svg"/><Relationship Id="rId10" Type="http://schemas.openxmlformats.org/officeDocument/2006/relationships/image" Target="../media/image-2-10.svg"/><Relationship Id="rId4" Type="http://schemas.openxmlformats.org/officeDocument/2006/relationships/image" Target="../media/image-2-2.svg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-4-6.svg"/><Relationship Id="rId13" Type="http://schemas.openxmlformats.org/officeDocument/2006/relationships/image" Target="../media/image13.png"/><Relationship Id="rId18" Type="http://schemas.openxmlformats.org/officeDocument/2006/relationships/image" Target="../media/image-4-16.sv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12" Type="http://schemas.openxmlformats.org/officeDocument/2006/relationships/image" Target="../media/image-4-10.sv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-4-14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4-4.svg"/><Relationship Id="rId11" Type="http://schemas.openxmlformats.org/officeDocument/2006/relationships/image" Target="../media/image12.png"/><Relationship Id="rId5" Type="http://schemas.openxmlformats.org/officeDocument/2006/relationships/image" Target="../media/image9.png"/><Relationship Id="rId15" Type="http://schemas.openxmlformats.org/officeDocument/2006/relationships/image" Target="../media/image14.png"/><Relationship Id="rId10" Type="http://schemas.openxmlformats.org/officeDocument/2006/relationships/image" Target="../media/image-4-8.svg"/><Relationship Id="rId4" Type="http://schemas.openxmlformats.org/officeDocument/2006/relationships/image" Target="../media/image-4-2.svg"/><Relationship Id="rId9" Type="http://schemas.openxmlformats.org/officeDocument/2006/relationships/image" Target="../media/image11.png"/><Relationship Id="rId14" Type="http://schemas.openxmlformats.org/officeDocument/2006/relationships/image" Target="../media/image-4-1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-6-2.svg"/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6-2.svg"/><Relationship Id="rId5" Type="http://schemas.openxmlformats.org/officeDocument/2006/relationships/image" Target="../media/image-6-2.svg"/><Relationship Id="rId10" Type="http://schemas.openxmlformats.org/officeDocument/2006/relationships/image" Target="../media/image-6-2.svg"/><Relationship Id="rId4" Type="http://schemas.openxmlformats.org/officeDocument/2006/relationships/image" Target="../media/image-6-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1070877"/>
            <a:ext cx="6296860" cy="1228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00" b="1" kern="10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Smart Ambulance Dispatch and Route Optimization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573421"/>
            <a:ext cx="6296860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Advanced DSA-Based Emergency Healthcare Resource Allocation System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3272135"/>
            <a:ext cx="1417602" cy="287139"/>
          </a:xfrm>
          <a:prstGeom prst="roundRect">
            <a:avLst>
              <a:gd name="adj" fmla="val 22118"/>
            </a:avLst>
          </a:prstGeom>
          <a:noFill/>
          <a:ln w="12700">
            <a:solidFill>
              <a:srgbClr val="6296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4879" y="3336789"/>
            <a:ext cx="1800378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DSA-III PROJECT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2173531" y="3272135"/>
            <a:ext cx="1251911" cy="287139"/>
          </a:xfrm>
          <a:prstGeom prst="roundRect">
            <a:avLst>
              <a:gd name="adj" fmla="val 22118"/>
            </a:avLst>
          </a:prstGeom>
          <a:noFill/>
          <a:ln w="12700">
            <a:solidFill>
              <a:srgbClr val="6296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86935" y="3336789"/>
            <a:ext cx="163468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FINAL REVIEW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61475" y="3776729"/>
            <a:ext cx="6906444" cy="196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Team Members: [P Bhavya 2510030379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871120" y="4181078"/>
            <a:ext cx="5087215" cy="1620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Sejal Heda 2510030350</a:t>
            </a:r>
            <a:endParaRPr lang="en-US" sz="1150" dirty="0"/>
          </a:p>
          <a:p>
            <a:pPr marL="0" indent="0" algn="l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 Siri 2510030325</a:t>
            </a:r>
            <a:endParaRPr lang="en-US" sz="1150" dirty="0"/>
          </a:p>
          <a:p>
            <a:pPr marL="0" indent="0" algn="l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 Hansika 2510030330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 Mounika 2510030343]  |  Faculty Guide: [Dr M.Saidireddy]  |  [CSE], [</a:t>
            </a:r>
            <a:r>
              <a:rPr lang="en-US" sz="115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KL </a:t>
            </a:r>
            <a:r>
              <a:rPr lang="en-US" sz="1150" smtClean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University]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7232"/>
            <a:ext cx="10868745" cy="522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150" b="1" kern="100" spc="-63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Problem Statement and Objectives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506055"/>
            <a:ext cx="5238421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100" spc="-32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The Challenge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61475" y="1904721"/>
            <a:ext cx="5238421" cy="772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During emergencies, selecting the right ambulance, finding an efficient route, selecting a suitable hospital, and allocating limited beds and doctors becomes critical — especially when multiple emergencies occur simultaneously.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61475" y="2812468"/>
            <a:ext cx="5238421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100" spc="-32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Key Challenges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61475" y="3202285"/>
            <a:ext cx="5238421" cy="1637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00000"/>
              </a:lnSpc>
              <a:buSzPct val="100000"/>
              <a:buChar char="•"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Emergency prioritization based on severity</a:t>
            </a:r>
            <a:endParaRPr lang="en-US" sz="1250" dirty="0"/>
          </a:p>
          <a:p>
            <a:pPr marL="254000" indent="-254000" algn="l">
              <a:lnSpc>
                <a:spcPct val="100000"/>
              </a:lnSpc>
              <a:buSzPct val="100000"/>
              <a:buChar char="•"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Ambulance selection and real-time availability</a:t>
            </a:r>
            <a:endParaRPr lang="en-US" sz="1250" dirty="0"/>
          </a:p>
          <a:p>
            <a:pPr marL="254000" indent="-254000" algn="l">
              <a:lnSpc>
                <a:spcPct val="100000"/>
              </a:lnSpc>
              <a:buSzPct val="100000"/>
              <a:buChar char="•"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Route optimization for fastest response</a:t>
            </a:r>
            <a:endParaRPr lang="en-US" sz="1250" dirty="0"/>
          </a:p>
          <a:p>
            <a:pPr marL="254000" indent="-254000" algn="l">
              <a:lnSpc>
                <a:spcPct val="100000"/>
              </a:lnSpc>
              <a:buSzPct val="100000"/>
              <a:buChar char="•"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Hospital resource allocation under constraints</a:t>
            </a:r>
            <a:endParaRPr lang="en-US" sz="1250" dirty="0"/>
          </a:p>
          <a:p>
            <a:pPr marL="254000" indent="-254000" algn="l">
              <a:lnSpc>
                <a:spcPct val="100000"/>
              </a:lnSpc>
              <a:buSzPct val="100000"/>
              <a:buChar char="•"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Doctor-patient matching by specialization</a:t>
            </a:r>
            <a:endParaRPr lang="en-US" sz="1250" dirty="0"/>
          </a:p>
          <a:p>
            <a:pPr marL="254000" indent="-254000" algn="l">
              <a:lnSpc>
                <a:spcPct val="100000"/>
              </a:lnSpc>
              <a:buSzPct val="100000"/>
              <a:buChar char="•"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Medical record search — exact and fuzzy</a:t>
            </a:r>
            <a:endParaRPr lang="en-US" sz="1250" dirty="0"/>
          </a:p>
          <a:p>
            <a:pPr marL="254000" indent="-254000" algn="l">
              <a:lnSpc>
                <a:spcPct val="100000"/>
              </a:lnSpc>
              <a:buSzPct val="100000"/>
              <a:buChar char="•"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Handling multiple concurrent emergencies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298149" y="1506055"/>
            <a:ext cx="5238421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100" spc="-32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Project Objectives</a:t>
            </a:r>
            <a:endParaRPr lang="en-US" sz="15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298149" y="1912938"/>
            <a:ext cx="2550949" cy="14041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54028" y="2092623"/>
            <a:ext cx="2115390" cy="5220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100" spc="-32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Prioritize Emergencies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6554028" y="2751237"/>
            <a:ext cx="2115390" cy="38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Use priority queues to handle critical cases first</a:t>
            </a:r>
            <a:endParaRPr lang="en-US" sz="12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8985621" y="1912938"/>
            <a:ext cx="2550949" cy="14041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241499" y="2092623"/>
            <a:ext cx="2115390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100" spc="-32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Optimize Routes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9241499" y="2490192"/>
            <a:ext cx="2115390" cy="38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Apply graph algorithms for fastest ambulance routing</a:t>
            </a:r>
            <a:endParaRPr lang="en-US" sz="12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6298149" y="3453606"/>
            <a:ext cx="2550949" cy="133617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554028" y="3633291"/>
            <a:ext cx="2115390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100" spc="-32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Allocate Resources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6554028" y="4030861"/>
            <a:ext cx="2115390" cy="38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Efficiently distribute hospital beds and staff</a:t>
            </a:r>
            <a:endParaRPr lang="en-US" sz="12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8985621" y="3453606"/>
            <a:ext cx="2550949" cy="133617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241499" y="3633291"/>
            <a:ext cx="2115390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100" spc="-32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Match Patients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9241499" y="4030861"/>
            <a:ext cx="2115390" cy="579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Connect patients with suitable doctors by specialization</a:t>
            </a:r>
            <a:endParaRPr lang="en-US" sz="125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6298149" y="4926310"/>
            <a:ext cx="2550949" cy="1143099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554028" y="5105995"/>
            <a:ext cx="2115390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100" spc="-32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Fast Record Retrieval</a:t>
            </a:r>
            <a:endParaRPr lang="en-US" sz="1550" dirty="0"/>
          </a:p>
        </p:txBody>
      </p:sp>
      <p:sp>
        <p:nvSpPr>
          <p:cNvPr id="22" name="Text 15"/>
          <p:cNvSpPr/>
          <p:nvPr/>
        </p:nvSpPr>
        <p:spPr>
          <a:xfrm>
            <a:off x="6554028" y="5503565"/>
            <a:ext cx="2115390" cy="38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Support exact and fuzzy medical record search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01583"/>
            <a:ext cx="10868745" cy="460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750" b="1" kern="100" spc="-56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Proposed Smart Ambulance System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3678" y="1363067"/>
            <a:ext cx="8084340" cy="34862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97661" y="4183608"/>
            <a:ext cx="1834069" cy="238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kern="100" spc="-29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Completion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597661" y="3376597"/>
            <a:ext cx="1834069" cy="238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kern="100" spc="-29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Resource Allocation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597661" y="2577739"/>
            <a:ext cx="1834069" cy="238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kern="100" spc="-29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Dispatch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597661" y="1770728"/>
            <a:ext cx="1834069" cy="238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kern="100" spc="-29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Emergency Intake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61475" y="5081045"/>
            <a:ext cx="245778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100" spc="-28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Frontend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61475" y="5411688"/>
            <a:ext cx="2457785" cy="719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95000"/>
              </a:lnSpc>
              <a:buSzPct val="100000"/>
              <a:buChar char="•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Admin Dashboard</a:t>
            </a:r>
            <a:endParaRPr lang="en-US" sz="1100" dirty="0"/>
          </a:p>
          <a:p>
            <a:pPr marL="223520" indent="-223520" algn="l">
              <a:lnSpc>
                <a:spcPct val="95000"/>
              </a:lnSpc>
              <a:buSzPct val="100000"/>
              <a:buChar char="•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Emergency Interface</a:t>
            </a:r>
            <a:endParaRPr lang="en-US" sz="1100" dirty="0"/>
          </a:p>
          <a:p>
            <a:pPr marL="223520" indent="-223520" algn="l">
              <a:lnSpc>
                <a:spcPct val="95000"/>
              </a:lnSpc>
              <a:buSzPct val="100000"/>
              <a:buChar char="•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Ambulance &amp; Hospital Management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471478" y="5081045"/>
            <a:ext cx="245778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100" spc="-28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Backend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3471478" y="5411688"/>
            <a:ext cx="2457785" cy="359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95000"/>
              </a:lnSpc>
              <a:buSzPct val="100000"/>
              <a:buChar char="•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Python + FastAPI with REST APIs</a:t>
            </a:r>
            <a:endParaRPr lang="en-US" sz="1100" dirty="0"/>
          </a:p>
          <a:p>
            <a:pPr marL="223520" indent="-223520" algn="l">
              <a:lnSpc>
                <a:spcPct val="95000"/>
              </a:lnSpc>
              <a:buSzPct val="100000"/>
              <a:buChar char="•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Uvicorn Application Server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281481" y="5081045"/>
            <a:ext cx="245778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100" spc="-28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DSA Engine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281481" y="5411688"/>
            <a:ext cx="2457785" cy="520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95000"/>
              </a:lnSpc>
              <a:buSzPct val="100000"/>
              <a:buChar char="•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Priority Queue, Dijkstra, Dinic</a:t>
            </a:r>
            <a:endParaRPr lang="en-US" sz="1100" dirty="0"/>
          </a:p>
          <a:p>
            <a:pPr marL="223520" indent="-223520" algn="l">
              <a:lnSpc>
                <a:spcPct val="95000"/>
              </a:lnSpc>
              <a:buSzPct val="100000"/>
              <a:buChar char="•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Bipartite Matching, KMP, Edit Distance, Bitmask DP, TSP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091484" y="5081045"/>
            <a:ext cx="245778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100" spc="-28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Database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9091484" y="5411688"/>
            <a:ext cx="2457785" cy="6821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95000"/>
              </a:lnSpc>
              <a:buSzPct val="100000"/>
              <a:buChar char="•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SQLite — Admin, Hospital, Ambulance</a:t>
            </a:r>
            <a:endParaRPr lang="en-US" sz="1100" dirty="0"/>
          </a:p>
          <a:p>
            <a:pPr marL="223520" indent="-223520" algn="l">
              <a:lnSpc>
                <a:spcPct val="95000"/>
              </a:lnSpc>
              <a:buSzPct val="100000"/>
              <a:buChar char="•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Doctor, Patient, Emergency, Dispatch tables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33510"/>
            <a:ext cx="10868745" cy="399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kern="100" spc="-48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Data Structures and Algorithms Implemented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289444"/>
            <a:ext cx="11478330" cy="131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All eight algorithms are </a:t>
            </a:r>
            <a:r>
              <a:rPr lang="en-US" sz="9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fully implemented and integrated</a:t>
            </a: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into the working backend.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61475" y="1502569"/>
            <a:ext cx="5394488" cy="1098451"/>
          </a:xfrm>
          <a:prstGeom prst="roundRect">
            <a:avLst>
              <a:gd name="adj" fmla="val 4698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7004" y="1638102"/>
            <a:ext cx="368489" cy="368498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898304" y="1739404"/>
            <a:ext cx="165790" cy="1657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7004" y="2086372"/>
            <a:ext cx="5123429" cy="199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kern="100" spc="-24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Priority Queue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97004" y="2333823"/>
            <a:ext cx="5123429" cy="131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Emergency prioritization by severity level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135732" y="1502569"/>
            <a:ext cx="5394488" cy="1098451"/>
          </a:xfrm>
          <a:prstGeom prst="roundRect">
            <a:avLst>
              <a:gd name="adj" fmla="val 4698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71262" y="1638102"/>
            <a:ext cx="368489" cy="368498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6372562" y="1739404"/>
            <a:ext cx="165790" cy="16579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71262" y="2086372"/>
            <a:ext cx="5123429" cy="199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kern="100" spc="-24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Graph + Dijkstra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271262" y="2333823"/>
            <a:ext cx="5123429" cy="131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Shortest route calculation through road network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61475" y="2680791"/>
            <a:ext cx="5394488" cy="1098451"/>
          </a:xfrm>
          <a:prstGeom prst="roundRect">
            <a:avLst>
              <a:gd name="adj" fmla="val 4698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97004" y="2816324"/>
            <a:ext cx="368489" cy="368498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898304" y="2917627"/>
            <a:ext cx="165790" cy="16579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97004" y="3264595"/>
            <a:ext cx="5123429" cy="199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kern="100" spc="-24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Dinic / Max Flow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797004" y="3512046"/>
            <a:ext cx="5123429" cy="131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Hospital bed allocation optimization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6135732" y="2680791"/>
            <a:ext cx="5394488" cy="1098451"/>
          </a:xfrm>
          <a:prstGeom prst="roundRect">
            <a:avLst>
              <a:gd name="adj" fmla="val 4698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271262" y="2816324"/>
            <a:ext cx="368489" cy="368498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6372562" y="2917627"/>
            <a:ext cx="165790" cy="16579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71262" y="3264595"/>
            <a:ext cx="5123429" cy="199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kern="100" spc="-24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Bipartite Matching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271262" y="3512046"/>
            <a:ext cx="5123429" cy="131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Doctor-patient assignment by specialization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661475" y="3859014"/>
            <a:ext cx="5394488" cy="1098451"/>
          </a:xfrm>
          <a:prstGeom prst="roundRect">
            <a:avLst>
              <a:gd name="adj" fmla="val 4698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97004" y="3994547"/>
            <a:ext cx="368489" cy="368498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898304" y="4095849"/>
            <a:ext cx="165790" cy="16579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97004" y="4442817"/>
            <a:ext cx="5123429" cy="199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kern="100" spc="-24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KMP Algorithm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797004" y="4690269"/>
            <a:ext cx="5123429" cy="131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Exact medical record string search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6135732" y="3859014"/>
            <a:ext cx="5394488" cy="1098451"/>
          </a:xfrm>
          <a:prstGeom prst="roundRect">
            <a:avLst>
              <a:gd name="adj" fmla="val 4698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271262" y="3994547"/>
            <a:ext cx="368489" cy="368498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6372562" y="4095849"/>
            <a:ext cx="165790" cy="16579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271262" y="4442817"/>
            <a:ext cx="5123429" cy="199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kern="100" spc="-24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Edit Distance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271262" y="4690269"/>
            <a:ext cx="5123429" cy="131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Fuzzy medical record search and retrieval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661475" y="5037237"/>
            <a:ext cx="5394488" cy="1098451"/>
          </a:xfrm>
          <a:prstGeom prst="roundRect">
            <a:avLst>
              <a:gd name="adj" fmla="val 4698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797004" y="5172770"/>
            <a:ext cx="368489" cy="368498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xmlns="" r:embed="rId16"/>
              </a:ext>
            </a:extLst>
          </a:blip>
          <a:stretch>
            <a:fillRect/>
          </a:stretch>
        </p:blipFill>
        <p:spPr>
          <a:xfrm>
            <a:off x="898304" y="5274072"/>
            <a:ext cx="165790" cy="165795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97004" y="5621040"/>
            <a:ext cx="5123429" cy="199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kern="100" spc="-24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Bitmask DP</a:t>
            </a:r>
            <a:endParaRPr lang="en-US" sz="1200" dirty="0"/>
          </a:p>
        </p:txBody>
      </p:sp>
      <p:sp>
        <p:nvSpPr>
          <p:cNvPr id="38" name="Text 29"/>
          <p:cNvSpPr/>
          <p:nvPr/>
        </p:nvSpPr>
        <p:spPr>
          <a:xfrm>
            <a:off x="797004" y="5868491"/>
            <a:ext cx="5123429" cy="131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Multi-stop route optimization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6135732" y="5037237"/>
            <a:ext cx="5394488" cy="1098451"/>
          </a:xfrm>
          <a:prstGeom prst="roundRect">
            <a:avLst>
              <a:gd name="adj" fmla="val 4698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6271262" y="5172770"/>
            <a:ext cx="368489" cy="368498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xmlns="" r:embed="rId18"/>
              </a:ext>
            </a:extLst>
          </a:blip>
          <a:stretch>
            <a:fillRect/>
          </a:stretch>
        </p:blipFill>
        <p:spPr>
          <a:xfrm>
            <a:off x="6372562" y="5274072"/>
            <a:ext cx="165790" cy="165795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6271262" y="5621040"/>
            <a:ext cx="5123429" cy="199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kern="100" spc="-24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TSP Approximation</a:t>
            </a:r>
            <a:endParaRPr lang="en-US" sz="1200" dirty="0"/>
          </a:p>
        </p:txBody>
      </p:sp>
      <p:sp>
        <p:nvSpPr>
          <p:cNvPr id="43" name="Text 33"/>
          <p:cNvSpPr/>
          <p:nvPr/>
        </p:nvSpPr>
        <p:spPr>
          <a:xfrm>
            <a:off x="6271262" y="5868491"/>
            <a:ext cx="5123429" cy="131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Large-scale route optimization at scale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4219"/>
            <a:ext cx="10868745" cy="522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150" b="1" kern="100" spc="-63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System Architecture and Technology Stack</a:t>
            </a:r>
            <a:endParaRPr lang="en-US" sz="3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371" y="1565970"/>
            <a:ext cx="4452628" cy="44527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98149" y="1533043"/>
            <a:ext cx="5238421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100" spc="-32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Communication Flow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298149" y="1931708"/>
            <a:ext cx="5238421" cy="392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066CC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Frontend</a:t>
            </a: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2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↔</a:t>
            </a: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REST API </a:t>
            </a:r>
            <a:r>
              <a:rPr lang="en-US" sz="12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↔</a:t>
            </a: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250" b="1" dirty="0">
                <a:solidFill>
                  <a:srgbClr val="0066CC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FastAPI Backend</a:t>
            </a: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2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↔</a:t>
            </a: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DSA Engine </a:t>
            </a:r>
            <a:r>
              <a:rPr lang="en-US" sz="12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↔</a:t>
            </a: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250" b="1" dirty="0">
                <a:solidFill>
                  <a:srgbClr val="0066CC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SQLite Database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298149" y="2509044"/>
            <a:ext cx="5238421" cy="19050"/>
          </a:xfrm>
          <a:prstGeom prst="roundRect">
            <a:avLst>
              <a:gd name="adj" fmla="val 49999"/>
            </a:avLst>
          </a:prstGeom>
          <a:solidFill>
            <a:srgbClr val="EBEDF0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6298149" y="2729522"/>
            <a:ext cx="5238421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100" spc="-32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Frontend Layer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298149" y="3128187"/>
            <a:ext cx="5238421" cy="38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Admin Dashboard, Emergency Interface, Ambulance Management, Hospital &amp; Doctor Views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298149" y="3649776"/>
            <a:ext cx="5238421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100" spc="-32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Backend Layer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6298149" y="4048441"/>
            <a:ext cx="5848005" cy="193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Python, FastAPI, REST APIs, Uvicorn Server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298149" y="4376950"/>
            <a:ext cx="5238421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100" spc="-32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DSA Engine Layer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6298149" y="4775615"/>
            <a:ext cx="5238421" cy="38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Priority Queue, Dijkstra, Dinic, Bipartite Matching, KMP, Edit Distance, Graph Algorithms, Dynamic Programming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298149" y="5297204"/>
            <a:ext cx="5238421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100" spc="-32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Database Layer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6298149" y="5695869"/>
            <a:ext cx="5238421" cy="38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SQLite — structured tables for Admin, Hospitals, Ambulances, Doctors, Patients, Emergencies, and Dispatches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28273"/>
            <a:ext cx="10868745" cy="460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750" b="1" kern="100" spc="-56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Core DSA Implementation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448746"/>
            <a:ext cx="5261439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100" spc="-28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Emergency Severity Levels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61475" y="1785746"/>
            <a:ext cx="5871023" cy="128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Priority Queue ensures the highest-severity emergency is always handled first for immediate dispatch.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275131" y="1448746"/>
            <a:ext cx="5261439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100" spc="-28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Algorithm Applications in Practice</a:t>
            </a:r>
            <a:endParaRPr lang="en-US" sz="13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328212" y="1801416"/>
            <a:ext cx="212620" cy="2126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35693" y="1792684"/>
            <a:ext cx="4800877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100" spc="-2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Priority Queue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735693" y="2129234"/>
            <a:ext cx="4800877" cy="161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Highest-priority emergency handled first — immediate dispatch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328212" y="2511822"/>
            <a:ext cx="212620" cy="21262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735693" y="2503091"/>
            <a:ext cx="4800877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100" spc="-2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Dijkstra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6735693" y="2839641"/>
            <a:ext cx="4800877" cy="161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Shortest path through road network graph — fastest ambulance routing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6328212" y="3222228"/>
            <a:ext cx="212620" cy="21262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735693" y="3213497"/>
            <a:ext cx="4800877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100" spc="-2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Dinic / Max Flow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735693" y="3550047"/>
            <a:ext cx="4800877" cy="161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Allocates patients to hospitals respecting bed capacity constraints</a:t>
            </a:r>
            <a:endParaRPr lang="en-US" sz="11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6328212" y="3932634"/>
            <a:ext cx="212620" cy="21262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735693" y="3923903"/>
            <a:ext cx="4800877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100" spc="-2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Bipartite Matching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6735693" y="4260453"/>
            <a:ext cx="4800877" cy="161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Matches patients with doctors by specialization and availability</a:t>
            </a:r>
            <a:endParaRPr lang="en-US" sz="11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6328212" y="4643041"/>
            <a:ext cx="212620" cy="21262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735693" y="4634309"/>
            <a:ext cx="4800877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100" spc="-2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KMP + Edit Distance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6735693" y="4970859"/>
            <a:ext cx="4800877" cy="161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Exact and fuzzy search on patient medical records for fast retrieval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661475" y="5371207"/>
            <a:ext cx="10868745" cy="770334"/>
          </a:xfrm>
          <a:prstGeom prst="roundRect">
            <a:avLst>
              <a:gd name="adj" fmla="val 7729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674175" y="5383907"/>
            <a:ext cx="2710787" cy="744934"/>
          </a:xfrm>
          <a:custGeom>
            <a:avLst/>
            <a:gdLst/>
            <a:ahLst/>
            <a:cxnLst/>
            <a:rect l="l" t="t" r="r" b="b"/>
            <a:pathLst>
              <a:path w="2710787" h="744934">
                <a:moveTo>
                  <a:pt x="49617" y="0"/>
                </a:moveTo>
                <a:lnTo>
                  <a:pt x="2710787" y="0"/>
                </a:lnTo>
                <a:lnTo>
                  <a:pt x="2710787" y="744934"/>
                </a:lnTo>
                <a:lnTo>
                  <a:pt x="49617" y="744934"/>
                </a:lnTo>
                <a:arcTo wR="49617" hR="49619" stAng="5400000" swAng="5400000"/>
                <a:lnTo>
                  <a:pt x="0" y="49619"/>
                </a:lnTo>
                <a:arcTo wR="49617" hR="49619" stAng="10800000" swAng="5400000"/>
                <a:close/>
              </a:path>
            </a:pathLst>
          </a:custGeom>
          <a:solidFill>
            <a:srgbClr val="101620"/>
          </a:solidFill>
          <a:ln/>
        </p:spPr>
      </p:sp>
      <p:sp>
        <p:nvSpPr>
          <p:cNvPr id="23" name="Text 16"/>
          <p:cNvSpPr/>
          <p:nvPr/>
        </p:nvSpPr>
        <p:spPr>
          <a:xfrm>
            <a:off x="815855" y="5525591"/>
            <a:ext cx="2427425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100" spc="-28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🔴</a:t>
            </a:r>
            <a:r>
              <a:rPr lang="en-US" sz="1350" b="1" kern="100" spc="-2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Critical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815855" y="5825927"/>
            <a:ext cx="2427425" cy="161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Priority = 10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3384961" y="5383907"/>
            <a:ext cx="2710886" cy="744934"/>
          </a:xfrm>
          <a:prstGeom prst="rect">
            <a:avLst/>
          </a:prstGeom>
          <a:solidFill>
            <a:srgbClr val="101620"/>
          </a:solidFill>
          <a:ln/>
        </p:spPr>
      </p:sp>
      <p:sp>
        <p:nvSpPr>
          <p:cNvPr id="26" name="Shape 19"/>
          <p:cNvSpPr/>
          <p:nvPr/>
        </p:nvSpPr>
        <p:spPr>
          <a:xfrm>
            <a:off x="3384961" y="5383907"/>
            <a:ext cx="19050" cy="744934"/>
          </a:xfrm>
          <a:prstGeom prst="roundRect">
            <a:avLst>
              <a:gd name="adj" fmla="val 49999"/>
            </a:avLst>
          </a:prstGeom>
          <a:solidFill>
            <a:srgbClr val="002A80"/>
          </a:solidFill>
          <a:ln/>
        </p:spPr>
      </p:sp>
      <p:sp>
        <p:nvSpPr>
          <p:cNvPr id="27" name="Text 20"/>
          <p:cNvSpPr/>
          <p:nvPr/>
        </p:nvSpPr>
        <p:spPr>
          <a:xfrm>
            <a:off x="3526642" y="5525591"/>
            <a:ext cx="2427524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100" spc="-28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🟠</a:t>
            </a:r>
            <a:r>
              <a:rPr lang="en-US" sz="1350" b="1" kern="100" spc="-2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High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3526642" y="5825927"/>
            <a:ext cx="2427524" cy="161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Priority = 8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095848" y="5383907"/>
            <a:ext cx="2710787" cy="744934"/>
          </a:xfrm>
          <a:prstGeom prst="rect">
            <a:avLst/>
          </a:prstGeom>
          <a:solidFill>
            <a:srgbClr val="101620"/>
          </a:solidFill>
          <a:ln/>
        </p:spPr>
      </p:sp>
      <p:sp>
        <p:nvSpPr>
          <p:cNvPr id="30" name="Shape 23"/>
          <p:cNvSpPr/>
          <p:nvPr/>
        </p:nvSpPr>
        <p:spPr>
          <a:xfrm>
            <a:off x="6095848" y="5383907"/>
            <a:ext cx="19050" cy="744934"/>
          </a:xfrm>
          <a:prstGeom prst="roundRect">
            <a:avLst>
              <a:gd name="adj" fmla="val 49999"/>
            </a:avLst>
          </a:prstGeom>
          <a:solidFill>
            <a:srgbClr val="002A80"/>
          </a:solidFill>
          <a:ln/>
        </p:spPr>
      </p:sp>
      <p:sp>
        <p:nvSpPr>
          <p:cNvPr id="31" name="Text 24"/>
          <p:cNvSpPr/>
          <p:nvPr/>
        </p:nvSpPr>
        <p:spPr>
          <a:xfrm>
            <a:off x="6237528" y="5525591"/>
            <a:ext cx="2427425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100" spc="-28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🟡</a:t>
            </a:r>
            <a:r>
              <a:rPr lang="en-US" sz="1350" b="1" kern="100" spc="-2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Medium</a:t>
            </a:r>
            <a:endParaRPr lang="en-US" sz="1350" dirty="0"/>
          </a:p>
        </p:txBody>
      </p:sp>
      <p:sp>
        <p:nvSpPr>
          <p:cNvPr id="32" name="Text 25"/>
          <p:cNvSpPr/>
          <p:nvPr/>
        </p:nvSpPr>
        <p:spPr>
          <a:xfrm>
            <a:off x="6237528" y="5825927"/>
            <a:ext cx="2427425" cy="161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Priority = 5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8806634" y="5383907"/>
            <a:ext cx="2710886" cy="744934"/>
          </a:xfrm>
          <a:custGeom>
            <a:avLst/>
            <a:gdLst/>
            <a:ahLst/>
            <a:cxnLst/>
            <a:rect l="l" t="t" r="r" b="b"/>
            <a:pathLst>
              <a:path w="2710886" h="744934">
                <a:moveTo>
                  <a:pt x="0" y="0"/>
                </a:moveTo>
                <a:lnTo>
                  <a:pt x="2661269" y="0"/>
                </a:lnTo>
                <a:arcTo wR="49617" hR="49619" stAng="16200000" swAng="5400000"/>
                <a:lnTo>
                  <a:pt x="2710886" y="695316"/>
                </a:lnTo>
                <a:arcTo wR="49617" hR="49619" stAng="0" swAng="5400000"/>
                <a:lnTo>
                  <a:pt x="0" y="744934"/>
                </a:lnTo>
                <a:lnTo>
                  <a:pt x="0" y="0"/>
                </a:lnTo>
                <a:close/>
              </a:path>
            </a:pathLst>
          </a:custGeom>
          <a:solidFill>
            <a:srgbClr val="101620"/>
          </a:solidFill>
          <a:ln/>
        </p:spPr>
      </p:sp>
      <p:sp>
        <p:nvSpPr>
          <p:cNvPr id="34" name="Shape 27"/>
          <p:cNvSpPr/>
          <p:nvPr/>
        </p:nvSpPr>
        <p:spPr>
          <a:xfrm>
            <a:off x="8806634" y="5383907"/>
            <a:ext cx="19050" cy="744934"/>
          </a:xfrm>
          <a:prstGeom prst="roundRect">
            <a:avLst>
              <a:gd name="adj" fmla="val 49999"/>
            </a:avLst>
          </a:prstGeom>
          <a:solidFill>
            <a:srgbClr val="002A80"/>
          </a:solidFill>
          <a:ln/>
        </p:spPr>
      </p:sp>
      <p:sp>
        <p:nvSpPr>
          <p:cNvPr id="35" name="Text 28"/>
          <p:cNvSpPr/>
          <p:nvPr/>
        </p:nvSpPr>
        <p:spPr>
          <a:xfrm>
            <a:off x="8948315" y="5525591"/>
            <a:ext cx="2427524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100" spc="-28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🟢</a:t>
            </a:r>
            <a:r>
              <a:rPr lang="en-US" sz="1350" b="1" kern="100" spc="-2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Low</a:t>
            </a:r>
            <a:endParaRPr lang="en-US" sz="1350" dirty="0"/>
          </a:p>
        </p:txBody>
      </p:sp>
      <p:sp>
        <p:nvSpPr>
          <p:cNvPr id="36" name="Text 29"/>
          <p:cNvSpPr/>
          <p:nvPr/>
        </p:nvSpPr>
        <p:spPr>
          <a:xfrm>
            <a:off x="8948315" y="5825927"/>
            <a:ext cx="2427524" cy="161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Priority = 2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9222"/>
            <a:ext cx="10868745" cy="451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700" b="1" kern="100" spc="-55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End-to-End Emergency Dispatch</a:t>
            </a:r>
            <a:endParaRPr lang="en-US" sz="2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68128"/>
            <a:ext cx="6946131" cy="31257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07816" y="2216551"/>
            <a:ext cx="1215554" cy="390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50" b="1" kern="100" spc="-24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Emergency Received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707816" y="2660707"/>
            <a:ext cx="1215554" cy="2604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Severity assessed, queued by priority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910012" y="4560892"/>
            <a:ext cx="1222232" cy="390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50" b="1" kern="100" spc="-24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Ambulance Dispatched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2910012" y="5005047"/>
            <a:ext cx="1222232" cy="260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Dijkstra routing, nearest unit assigned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098850" y="2193174"/>
            <a:ext cx="1215554" cy="390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50" b="1" kern="100" spc="-24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Hospital Allocated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098850" y="2637330"/>
            <a:ext cx="1215554" cy="2604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Bed check via Dinic, doctor matched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301046" y="4560892"/>
            <a:ext cx="1215554" cy="390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50" b="1" kern="100" spc="-24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Dispatch Complete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301046" y="5005047"/>
            <a:ext cx="1215554" cy="260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Final dispatch issued, DB updated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952482" y="1258057"/>
            <a:ext cx="3583989" cy="22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100" spc="-27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Testing Coverage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952482" y="1594247"/>
            <a:ext cx="312234" cy="312241"/>
          </a:xfrm>
          <a:prstGeom prst="roundRect">
            <a:avLst>
              <a:gd name="adj" fmla="val 18672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04471" y="1614984"/>
            <a:ext cx="208156" cy="2706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kern="100" spc="-3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366610" y="1637605"/>
            <a:ext cx="3169861" cy="22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100" spc="-2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API Connectivity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366610" y="1965027"/>
            <a:ext cx="3169861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REST endpoint validation across all modules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952482" y="2325291"/>
            <a:ext cx="312234" cy="312241"/>
          </a:xfrm>
          <a:prstGeom prst="roundRect">
            <a:avLst>
              <a:gd name="adj" fmla="val 18672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04471" y="2346027"/>
            <a:ext cx="208156" cy="2706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kern="100" spc="-3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366610" y="2368649"/>
            <a:ext cx="3169861" cy="22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100" spc="-2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Authentication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8366610" y="2696071"/>
            <a:ext cx="3169861" cy="312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Admin login, authorization, and session management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952482" y="3212802"/>
            <a:ext cx="312234" cy="312241"/>
          </a:xfrm>
          <a:prstGeom prst="roundRect">
            <a:avLst>
              <a:gd name="adj" fmla="val 18672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004471" y="3233539"/>
            <a:ext cx="208156" cy="2706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kern="100" spc="-3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366610" y="3256161"/>
            <a:ext cx="3169861" cy="22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100" spc="-2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Ambulance &amp; Hospital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8366610" y="3583583"/>
            <a:ext cx="3169861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Retrieval, availability, and resource queries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7952482" y="3943846"/>
            <a:ext cx="312234" cy="312241"/>
          </a:xfrm>
          <a:prstGeom prst="roundRect">
            <a:avLst>
              <a:gd name="adj" fmla="val 18672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004471" y="3964583"/>
            <a:ext cx="208156" cy="2706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kern="100" spc="-3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8366610" y="3987205"/>
            <a:ext cx="3169861" cy="22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100" spc="-2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Dispatch Workflow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8366610" y="4314627"/>
            <a:ext cx="3169861" cy="312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End-to-end emergency dispatch with DSA validation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952482" y="4831358"/>
            <a:ext cx="312234" cy="312241"/>
          </a:xfrm>
          <a:prstGeom prst="roundRect">
            <a:avLst>
              <a:gd name="adj" fmla="val 18672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004471" y="4852095"/>
            <a:ext cx="208156" cy="2706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kern="100" spc="-3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8366610" y="4874716"/>
            <a:ext cx="3169861" cy="22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100" spc="-2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Database Integrity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8366610" y="5202138"/>
            <a:ext cx="3169861" cy="312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Operations, data consistency, and correctness checks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952482" y="5629672"/>
            <a:ext cx="3583989" cy="565547"/>
          </a:xfrm>
          <a:prstGeom prst="roundRect">
            <a:avLst>
              <a:gd name="adj" fmla="val 10309"/>
            </a:avLst>
          </a:prstGeom>
          <a:solidFill>
            <a:srgbClr val="002A80"/>
          </a:solidFill>
          <a:ln/>
        </p:spPr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1285" y="5771654"/>
            <a:ext cx="173430" cy="138807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8403519" y="5764227"/>
            <a:ext cx="2994149" cy="312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[Insert Screenshot — Final Emergency Dispatch Output]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6738"/>
            <a:ext cx="10868745" cy="5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300" b="1" kern="100" spc="-67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Deployment, Impact and Future Scope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598458"/>
            <a:ext cx="5226911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50" b="1" kern="100" spc="-33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Deployment Status </a:t>
            </a:r>
            <a:r>
              <a:rPr lang="en-US" sz="1650" b="1" kern="100" spc="-33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661475" y="2020788"/>
            <a:ext cx="5226911" cy="1265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03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Localhost development environment</a:t>
            </a:r>
            <a:endParaRPr lang="en-US" sz="1300" dirty="0"/>
          </a:p>
          <a:p>
            <a:pPr marL="264160" indent="-264160" algn="l">
              <a:lnSpc>
                <a:spcPct val="103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FastAPI backend with Uvicorn server</a:t>
            </a:r>
            <a:endParaRPr lang="en-US" sz="1300" dirty="0"/>
          </a:p>
          <a:p>
            <a:pPr marL="264160" indent="-264160" algn="l">
              <a:lnSpc>
                <a:spcPct val="103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SQLite database integration</a:t>
            </a:r>
            <a:endParaRPr lang="en-US" sz="1300" dirty="0"/>
          </a:p>
          <a:p>
            <a:pPr marL="264160" indent="-264160" algn="l">
              <a:lnSpc>
                <a:spcPct val="103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Frontend with REST API integration</a:t>
            </a:r>
            <a:endParaRPr lang="en-US" sz="1300" dirty="0"/>
          </a:p>
          <a:p>
            <a:pPr marL="264160" indent="-264160" algn="l">
              <a:lnSpc>
                <a:spcPct val="103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Successfully tested and deployed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1475" y="3500537"/>
            <a:ext cx="5226911" cy="19050"/>
          </a:xfrm>
          <a:prstGeom prst="roundRect">
            <a:avLst>
              <a:gd name="adj" fmla="val 49999"/>
            </a:avLst>
          </a:prstGeom>
          <a:solidFill>
            <a:srgbClr val="EBEDF0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3741384"/>
            <a:ext cx="5226911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50" b="1" kern="100" spc="-33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System Impact </a:t>
            </a:r>
            <a:r>
              <a:rPr lang="en-US" sz="1650" b="1" kern="100" spc="-33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🚑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61475" y="4163715"/>
            <a:ext cx="5226911" cy="179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03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Faster emergency prioritization and response</a:t>
            </a:r>
            <a:endParaRPr lang="en-US" sz="1300" dirty="0"/>
          </a:p>
          <a:p>
            <a:pPr marL="264160" indent="-264160" algn="l">
              <a:lnSpc>
                <a:spcPct val="103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Improved ambulance utilization and efficiency</a:t>
            </a:r>
            <a:endParaRPr lang="en-US" sz="1300" dirty="0"/>
          </a:p>
          <a:p>
            <a:pPr marL="264160" indent="-264160" algn="l">
              <a:lnSpc>
                <a:spcPct val="103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Optimized route selection reducing travel time</a:t>
            </a:r>
            <a:endParaRPr lang="en-US" sz="1300" dirty="0"/>
          </a:p>
          <a:p>
            <a:pPr marL="264160" indent="-264160" algn="l">
              <a:lnSpc>
                <a:spcPct val="103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Efficient hospital resource allocation</a:t>
            </a:r>
            <a:endParaRPr lang="en-US" sz="1300" dirty="0"/>
          </a:p>
          <a:p>
            <a:pPr marL="264160" indent="-264160" algn="l">
              <a:lnSpc>
                <a:spcPct val="103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Better doctor-patient matching by specialization</a:t>
            </a:r>
            <a:endParaRPr lang="en-US" sz="1300" dirty="0"/>
          </a:p>
          <a:p>
            <a:pPr marL="264160" indent="-264160" algn="l">
              <a:lnSpc>
                <a:spcPct val="103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Support for multiple concurrent emergencies</a:t>
            </a:r>
            <a:endParaRPr lang="en-US" sz="1300" dirty="0"/>
          </a:p>
          <a:p>
            <a:pPr marL="264160" indent="-264160" algn="l">
              <a:lnSpc>
                <a:spcPct val="103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Fast and accurate medical record search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9659" y="1598458"/>
            <a:ext cx="5226911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50" b="1" kern="100" spc="-33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Future Scope </a:t>
            </a:r>
            <a:r>
              <a:rPr lang="en-US" sz="1650" b="1" kern="100" spc="-33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🔭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309659" y="2039938"/>
            <a:ext cx="2536861" cy="1227931"/>
          </a:xfrm>
          <a:prstGeom prst="roundRect">
            <a:avLst>
              <a:gd name="adj" fmla="val 5819"/>
            </a:avLst>
          </a:prstGeom>
          <a:solidFill>
            <a:srgbClr val="101620">
              <a:alpha val="95000"/>
            </a:srgbClr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8765" y="2229048"/>
            <a:ext cx="2158648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50" b="1" kern="100" spc="-3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Real-Time GPS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498765" y="2658467"/>
            <a:ext cx="2158648" cy="420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Live ambulance tracking and location updates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999610" y="2039938"/>
            <a:ext cx="2536960" cy="1227931"/>
          </a:xfrm>
          <a:prstGeom prst="roundRect">
            <a:avLst>
              <a:gd name="adj" fmla="val 5819"/>
            </a:avLst>
          </a:prstGeom>
          <a:solidFill>
            <a:srgbClr val="101620">
              <a:alpha val="95000"/>
            </a:srgbClr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88716" y="2229048"/>
            <a:ext cx="2158748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50" b="1" kern="100" spc="-3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Traffic Integration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88716" y="2658467"/>
            <a:ext cx="2158748" cy="420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Dynamic routing with live traffic data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659" y="3420963"/>
            <a:ext cx="2536861" cy="1227931"/>
          </a:xfrm>
          <a:prstGeom prst="roundRect">
            <a:avLst>
              <a:gd name="adj" fmla="val 5819"/>
            </a:avLst>
          </a:prstGeom>
          <a:solidFill>
            <a:srgbClr val="101620">
              <a:alpha val="95000"/>
            </a:srgbClr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8765" y="3610074"/>
            <a:ext cx="2158648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50" b="1" kern="100" spc="-3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Mobile App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498765" y="4039493"/>
            <a:ext cx="2158648" cy="420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Emergency reporting via mobile application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999610" y="3420963"/>
            <a:ext cx="2536960" cy="1227931"/>
          </a:xfrm>
          <a:prstGeom prst="roundRect">
            <a:avLst>
              <a:gd name="adj" fmla="val 5819"/>
            </a:avLst>
          </a:prstGeom>
          <a:solidFill>
            <a:srgbClr val="101620">
              <a:alpha val="95000"/>
            </a:srgbClr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88716" y="3610074"/>
            <a:ext cx="2158748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50" b="1" kern="100" spc="-3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Notifications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9188716" y="4039493"/>
            <a:ext cx="2158748" cy="420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SMS and push notification system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09659" y="4801989"/>
            <a:ext cx="2536861" cy="1227931"/>
          </a:xfrm>
          <a:prstGeom prst="roundRect">
            <a:avLst>
              <a:gd name="adj" fmla="val 5819"/>
            </a:avLst>
          </a:prstGeom>
          <a:solidFill>
            <a:srgbClr val="101620">
              <a:alpha val="95000"/>
            </a:srgbClr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8765" y="4991100"/>
            <a:ext cx="2158648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50" b="1" kern="100" spc="-3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Cloud Migration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498765" y="5420519"/>
            <a:ext cx="2158648" cy="420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Scalable cloud database and infrastructure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999610" y="4801989"/>
            <a:ext cx="2536960" cy="1227931"/>
          </a:xfrm>
          <a:prstGeom prst="roundRect">
            <a:avLst>
              <a:gd name="adj" fmla="val 5819"/>
            </a:avLst>
          </a:prstGeom>
          <a:solidFill>
            <a:srgbClr val="101620">
              <a:alpha val="95000"/>
            </a:srgbClr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88716" y="4991100"/>
            <a:ext cx="2158748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50" b="1" kern="100" spc="-3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AI Prediction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9188716" y="5420519"/>
            <a:ext cx="2158748" cy="420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AI-assisted emergency prediction and prevention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1467"/>
            <a:ext cx="10868745" cy="386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300" b="1" kern="100" spc="-47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Conclusion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356682" y="1079729"/>
            <a:ext cx="11478330" cy="126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9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Smart Ambulance Dispatch and Route Optimization demonstrates how </a:t>
            </a:r>
            <a:r>
              <a:rPr lang="en-US" sz="9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Data Structures and Algorithms</a:t>
            </a:r>
            <a:r>
              <a:rPr lang="en-US" sz="9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can be integrated into a practical, real-world emergency healthcare application.</a:t>
            </a:r>
            <a:endParaRPr lang="en-US" sz="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280319"/>
            <a:ext cx="595099" cy="7140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31482" y="1399282"/>
            <a:ext cx="10198738" cy="193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b="1" kern="100" spc="-2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Emergency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331482" y="1637705"/>
            <a:ext cx="10198738" cy="126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9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Request received &amp; severity assessed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1994396"/>
            <a:ext cx="595099" cy="71407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31482" y="2113359"/>
            <a:ext cx="10198738" cy="193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b="1" kern="100" spc="-2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Priority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1331482" y="2351782"/>
            <a:ext cx="10198738" cy="126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9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Queue orders critical cases first</a:t>
            </a:r>
            <a:endParaRPr lang="en-US" sz="9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2708473"/>
            <a:ext cx="595099" cy="71407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31482" y="2827437"/>
            <a:ext cx="10198738" cy="193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b="1" kern="100" spc="-2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Ambulance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1331482" y="3065859"/>
            <a:ext cx="10198738" cy="126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9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Nearest unit dispatched via Dijkstra</a:t>
            </a:r>
            <a:endParaRPr lang="en-US" sz="9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75" y="3422551"/>
            <a:ext cx="595099" cy="71407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31482" y="3541514"/>
            <a:ext cx="10198738" cy="193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b="1" kern="100" spc="-2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Hospital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1331482" y="3779937"/>
            <a:ext cx="10198738" cy="126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9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Bed allocated, doctor matched</a:t>
            </a:r>
            <a:endParaRPr lang="en-US" sz="9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75" y="4136628"/>
            <a:ext cx="595099" cy="714077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331482" y="4255591"/>
            <a:ext cx="10198738" cy="193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b="1" kern="100" spc="-2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Dispatch</a:t>
            </a:r>
            <a:endParaRPr lang="en-US" sz="1150" dirty="0"/>
          </a:p>
        </p:txBody>
      </p:sp>
      <p:sp>
        <p:nvSpPr>
          <p:cNvPr id="18" name="Text 11"/>
          <p:cNvSpPr/>
          <p:nvPr/>
        </p:nvSpPr>
        <p:spPr>
          <a:xfrm>
            <a:off x="1331482" y="4494014"/>
            <a:ext cx="10198738" cy="126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9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System updated, lifecycle complete</a:t>
            </a:r>
            <a:endParaRPr lang="en-US" sz="900" dirty="0"/>
          </a:p>
        </p:txBody>
      </p:sp>
      <p:sp>
        <p:nvSpPr>
          <p:cNvPr id="19" name="Text 12"/>
          <p:cNvSpPr/>
          <p:nvPr/>
        </p:nvSpPr>
        <p:spPr>
          <a:xfrm>
            <a:off x="839965" y="5028933"/>
            <a:ext cx="11299840" cy="126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9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DSA Algorithms + FastAPI Backend + Frontend UI + SQLite Database + REST APIs = Smart Emergency Resource Allocation System</a:t>
            </a:r>
            <a:endParaRPr lang="en-US" sz="900" dirty="0"/>
          </a:p>
        </p:txBody>
      </p:sp>
      <p:sp>
        <p:nvSpPr>
          <p:cNvPr id="20" name="Shape 13"/>
          <p:cNvSpPr/>
          <p:nvPr/>
        </p:nvSpPr>
        <p:spPr>
          <a:xfrm>
            <a:off x="661475" y="4934942"/>
            <a:ext cx="12700" cy="294580"/>
          </a:xfrm>
          <a:prstGeom prst="roundRect">
            <a:avLst>
              <a:gd name="adj" fmla="val 49999"/>
            </a:avLst>
          </a:prstGeom>
          <a:solidFill>
            <a:srgbClr val="6296FF"/>
          </a:solidFill>
          <a:ln/>
        </p:spPr>
      </p:sp>
      <p:sp>
        <p:nvSpPr>
          <p:cNvPr id="21" name="Text 14"/>
          <p:cNvSpPr/>
          <p:nvPr/>
        </p:nvSpPr>
        <p:spPr>
          <a:xfrm>
            <a:off x="356682" y="5323513"/>
            <a:ext cx="11478330" cy="126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900" i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 intelligent, algorithm-driven approach to emergency healthcare resource allocation.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661425" y="5564874"/>
            <a:ext cx="10868745" cy="533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3200" b="1" kern="100" spc="-65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23" name="Text 16"/>
          <p:cNvSpPr/>
          <p:nvPr/>
        </p:nvSpPr>
        <p:spPr>
          <a:xfrm>
            <a:off x="356682" y="6208247"/>
            <a:ext cx="11478330" cy="126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9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Questions &amp; Discussion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804</Words>
  <Application>Microsoft Office PowerPoint</Application>
  <PresentationFormat>Widescreen</PresentationFormat>
  <Paragraphs>179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Geist</vt:lpstr>
      <vt:lpstr>Geist Bold</vt:lpstr>
      <vt:lpstr>Calibri</vt:lpstr>
      <vt:lpstr>Noto Color Emoji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RAVI</cp:lastModifiedBy>
  <cp:revision>2</cp:revision>
  <dcterms:created xsi:type="dcterms:W3CDTF">2026-10-08T12:28:53Z</dcterms:created>
  <dcterms:modified xsi:type="dcterms:W3CDTF">2026-10-08T12:31:41Z</dcterms:modified>
</cp:coreProperties>
</file>