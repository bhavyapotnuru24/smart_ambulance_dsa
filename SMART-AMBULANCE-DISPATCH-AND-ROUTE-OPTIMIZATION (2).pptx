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.png"/><Relationship Id="rId18" Type="http://schemas.openxmlformats.org/officeDocument/2006/relationships/image" Target="../media/image-5-2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5.png"/><Relationship Id="rId22" Type="http://schemas.openxmlformats.org/officeDocument/2006/relationships/image" Target="../media/image-5-6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9.png"/><Relationship Id="rId26" Type="http://schemas.openxmlformats.org/officeDocument/2006/relationships/image" Target="../media/image-5-10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13.png"/><Relationship Id="rId30" Type="http://schemas.openxmlformats.org/officeDocument/2006/relationships/image" Target="../media/image-5-14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10679"/>
            <a:ext cx="1072329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SMART AMBULANCE DISPATCH AND ROUTE OPTIMIZATION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4200" y="973435"/>
            <a:ext cx="10723294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Advanced DSA-Based Emergency Healthcare Resource Allocation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72839" y="1362273"/>
            <a:ext cx="714456" cy="22651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5" name="Text 3"/>
          <p:cNvSpPr/>
          <p:nvPr/>
        </p:nvSpPr>
        <p:spPr>
          <a:xfrm>
            <a:off x="5262232" y="1406922"/>
            <a:ext cx="114525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 3 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61806" y="1362273"/>
            <a:ext cx="1056951" cy="226516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6FF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51200" y="1406922"/>
            <a:ext cx="1487748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DSA-III PROJECT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725116"/>
            <a:ext cx="5361647" cy="5966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3322" y="2442865"/>
            <a:ext cx="5063403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Network Flow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3322" y="2722563"/>
            <a:ext cx="5063403" cy="2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Max Flow / Dinic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725116"/>
            <a:ext cx="5361647" cy="5966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44970" y="2442865"/>
            <a:ext cx="5063403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Advanced DP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44970" y="2722563"/>
            <a:ext cx="5063403" cy="2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Bitmask · Edit Distance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3087886"/>
            <a:ext cx="5361647" cy="5966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3322" y="3805634"/>
            <a:ext cx="5063403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Matching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83322" y="4085332"/>
            <a:ext cx="5063403" cy="2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Bipartite · Assignment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087886"/>
            <a:ext cx="5361647" cy="5966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44970" y="3805634"/>
            <a:ext cx="5063403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Approximation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244970" y="4085332"/>
            <a:ext cx="5063403" cy="2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TSP · Dijkstra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34200" y="4586982"/>
            <a:ext cx="3493603" cy="819547"/>
          </a:xfrm>
          <a:prstGeom prst="roundRect">
            <a:avLst>
              <a:gd name="adj" fmla="val 27299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96022" y="4748808"/>
            <a:ext cx="3169960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🚑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Dispatch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96022" y="5028505"/>
            <a:ext cx="3169960" cy="2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Priority-driven ambulance assignment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8947" y="4586982"/>
            <a:ext cx="3493702" cy="819547"/>
          </a:xfrm>
          <a:prstGeom prst="roundRect">
            <a:avLst>
              <a:gd name="adj" fmla="val 27299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510768" y="4748808"/>
            <a:ext cx="3170059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🗺️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Routing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10768" y="5028505"/>
            <a:ext cx="3170059" cy="2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Shortest + multi-stop optimization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963792" y="4586982"/>
            <a:ext cx="3493702" cy="819547"/>
          </a:xfrm>
          <a:prstGeom prst="roundRect">
            <a:avLst>
              <a:gd name="adj" fmla="val 27299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125614" y="4748808"/>
            <a:ext cx="3170059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🏥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Allocation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125614" y="5028505"/>
            <a:ext cx="3170059" cy="2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Capacity-aware hospital &amp; bed flow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34200" y="5527675"/>
            <a:ext cx="5301026" cy="819547"/>
          </a:xfrm>
          <a:prstGeom prst="roundRect">
            <a:avLst>
              <a:gd name="adj" fmla="val 27299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96022" y="5689501"/>
            <a:ext cx="4977383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👨‍⚕️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Matching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96022" y="5969198"/>
            <a:ext cx="4977383" cy="2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Patient–doctor bipartite matching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156369" y="5527675"/>
            <a:ext cx="5301125" cy="819547"/>
          </a:xfrm>
          <a:prstGeom prst="roundRect">
            <a:avLst>
              <a:gd name="adj" fmla="val 27299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318191" y="5689501"/>
            <a:ext cx="4977482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Search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318191" y="5969198"/>
            <a:ext cx="4977482" cy="216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KMP + fuzzy medical record search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41040"/>
            <a:ext cx="10723294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We Built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34200" y="988120"/>
            <a:ext cx="10723294" cy="28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fully integrated emergency healthcare resource allocation engine, covering the complete lifecycle from incident detection to treatment assignment. The pipeline below represents the end-to-end system flow implemented across all modules.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34200" y="1352649"/>
            <a:ext cx="447366" cy="67111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3996" y="1604268"/>
            <a:ext cx="167775" cy="1677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9728" y="1464469"/>
            <a:ext cx="102077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Emergency Request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249728" y="1660723"/>
            <a:ext cx="1020776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Incident detected, patient details captured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4200" y="2091928"/>
            <a:ext cx="447366" cy="67111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996" y="2343547"/>
            <a:ext cx="167775" cy="1677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9728" y="2203748"/>
            <a:ext cx="102077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Ambulance Assignment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249728" y="2400002"/>
            <a:ext cx="1020776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Nearest suitable unit dispatched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734200" y="2831207"/>
            <a:ext cx="447366" cy="67111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996" y="3082826"/>
            <a:ext cx="167775" cy="16777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9728" y="2943027"/>
            <a:ext cx="102077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Route Optimization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249728" y="3139281"/>
            <a:ext cx="1020776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Shortest / multi-stop path computed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34200" y="3570486"/>
            <a:ext cx="447366" cy="67111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996" y="3822105"/>
            <a:ext cx="167775" cy="16777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49728" y="3682305"/>
            <a:ext cx="102077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Hospital Selection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249728" y="3878560"/>
            <a:ext cx="1020776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Availability + specialization constraints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34200" y="4309765"/>
            <a:ext cx="447366" cy="67111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996" y="4561384"/>
            <a:ext cx="167775" cy="16777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49728" y="4421584"/>
            <a:ext cx="102077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Bed Allocation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1249728" y="4617839"/>
            <a:ext cx="1020776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Flow-based capacity assignment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734200" y="5057477"/>
            <a:ext cx="5327517" cy="595610"/>
          </a:xfrm>
          <a:prstGeom prst="roundRect">
            <a:avLst>
              <a:gd name="adj" fmla="val 28173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58717" y="5181997"/>
            <a:ext cx="5078484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👨‍⚕️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Doctor Assignment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858717" y="5384602"/>
            <a:ext cx="5078484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Bipartite matching on specialization, availability, and workload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6129879" y="5057477"/>
            <a:ext cx="5327616" cy="595610"/>
          </a:xfrm>
          <a:prstGeom prst="roundRect">
            <a:avLst>
              <a:gd name="adj" fmla="val 28173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254395" y="5181997"/>
            <a:ext cx="5078583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Multiple Emergencies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6254395" y="5384602"/>
            <a:ext cx="5078583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Concurrent prioritization and resource reallocation across incidents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734200" y="5721251"/>
            <a:ext cx="5327517" cy="595610"/>
          </a:xfrm>
          <a:prstGeom prst="roundRect">
            <a:avLst>
              <a:gd name="adj" fmla="val 28173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58717" y="5845770"/>
            <a:ext cx="5078484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Medical Record Search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858717" y="6048375"/>
            <a:ext cx="5078484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KMP + Edit Distance for fast and fuzzy patient record retrieval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6129879" y="5721251"/>
            <a:ext cx="5327616" cy="595610"/>
          </a:xfrm>
          <a:prstGeom prst="roundRect">
            <a:avLst>
              <a:gd name="adj" fmla="val 28173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254395" y="5845770"/>
            <a:ext cx="5078583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Patient Scheduling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6254395" y="6048375"/>
            <a:ext cx="5078583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DP-based scheduling under resource constraints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60586"/>
            <a:ext cx="10723294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Architecture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34200" y="1234579"/>
            <a:ext cx="107232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system is structured as a three-layer pipeline: structured inputs feed an algorithm engine, which produces actionable dispatch outputs. Each layer is modular and independently testable.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4765" y="1820664"/>
            <a:ext cx="5395083" cy="2060476"/>
          </a:xfrm>
          <a:prstGeom prst="roundRect">
            <a:avLst>
              <a:gd name="adj" fmla="val 17707"/>
            </a:avLst>
          </a:prstGeom>
          <a:solidFill>
            <a:srgbClr val="16D9FF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6764" y="1946473"/>
            <a:ext cx="5091084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6764" y="2283321"/>
            <a:ext cx="5091084" cy="1287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Emergency request ID </a:t>
            </a:r>
            <a:endParaRPr lang="en-US" sz="1150" dirty="0"/>
          </a:p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 details (age, condition)</a:t>
            </a:r>
            <a:endParaRPr lang="en-US" sz="1150" dirty="0"/>
          </a:p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GPS location coordinates</a:t>
            </a:r>
            <a:endParaRPr lang="en-US" sz="1150" dirty="0"/>
          </a:p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Required medical specialization</a:t>
            </a:r>
            <a:endParaRPr lang="en-US" sz="1150" dirty="0"/>
          </a:p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Available ambulances, beds, doctors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87633" y="1946473"/>
            <a:ext cx="5176212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87633" y="2283321"/>
            <a:ext cx="5176212" cy="155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Assigned ambulance unit ID</a:t>
            </a:r>
            <a:endParaRPr lang="en-US" sz="1150" dirty="0"/>
          </a:p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Optimized route</a:t>
            </a:r>
            <a:endParaRPr lang="en-US" sz="1150" dirty="0"/>
          </a:p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Selected hospital with capacity status</a:t>
            </a:r>
            <a:endParaRPr lang="en-US" sz="1150" dirty="0"/>
          </a:p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Allocated bed number</a:t>
            </a:r>
            <a:endParaRPr lang="en-US" sz="1150" dirty="0"/>
          </a:p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Assigned doctor + specialization</a:t>
            </a:r>
            <a:endParaRPr lang="en-US" sz="1150" dirty="0"/>
          </a:p>
          <a:p>
            <a:pPr algn="l" marL="233680" indent="-23368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 treatment schedule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4200" y="4069953"/>
            <a:ext cx="10723294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ALGORITHM ENGINE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4200" y="4469805"/>
            <a:ext cx="3490528" cy="850900"/>
          </a:xfrm>
          <a:prstGeom prst="roundRect">
            <a:avLst>
              <a:gd name="adj" fmla="val 2679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49" y="4640858"/>
            <a:ext cx="3148430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Dijkstra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5249" y="4927402"/>
            <a:ext cx="314843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Shortest path routing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50534" y="4469805"/>
            <a:ext cx="3490528" cy="850900"/>
          </a:xfrm>
          <a:prstGeom prst="roundRect">
            <a:avLst>
              <a:gd name="adj" fmla="val 2679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1583" y="4640858"/>
            <a:ext cx="3148430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Assignment / Matching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1583" y="4927402"/>
            <a:ext cx="314843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Ambulance + doctor pairing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66868" y="4469805"/>
            <a:ext cx="3490528" cy="850900"/>
          </a:xfrm>
          <a:prstGeom prst="roundRect">
            <a:avLst>
              <a:gd name="adj" fmla="val 2679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7917" y="4640858"/>
            <a:ext cx="3148430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Bitmask DP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7917" y="4927402"/>
            <a:ext cx="314843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Multi-stop route sets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4200" y="5446514"/>
            <a:ext cx="3490528" cy="850900"/>
          </a:xfrm>
          <a:prstGeom prst="roundRect">
            <a:avLst>
              <a:gd name="adj" fmla="val 2679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49" y="5617567"/>
            <a:ext cx="3148430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Max Flow / Dinic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5249" y="5904111"/>
            <a:ext cx="314843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Bed capacity allocation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50534" y="5446514"/>
            <a:ext cx="3490528" cy="850900"/>
          </a:xfrm>
          <a:prstGeom prst="roundRect">
            <a:avLst>
              <a:gd name="adj" fmla="val 2679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1583" y="5617567"/>
            <a:ext cx="3148430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KMP / Edit Distance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1583" y="5904111"/>
            <a:ext cx="314843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Medical record search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66868" y="5446514"/>
            <a:ext cx="3490528" cy="850900"/>
          </a:xfrm>
          <a:prstGeom prst="roundRect">
            <a:avLst>
              <a:gd name="adj" fmla="val 2679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7917" y="5617567"/>
            <a:ext cx="3148430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TSP Approximation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37917" y="5904111"/>
            <a:ext cx="314843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Scalable large routing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11572"/>
            <a:ext cx="10723294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Current Implementation Status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734200" y="1369120"/>
            <a:ext cx="10723294" cy="573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Module-level progress dashboard as of Review 2. Status labels: </a:t>
            </a:r>
            <a:pPr algn="l"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IMPLEMENTED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= core logic complete; </a:t>
            </a:r>
            <a:pPr algn="l"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DEMO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= runnable with simulated data; </a:t>
            </a:r>
            <a:pPr algn="l"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 PROGRESS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= under active development. Do not interpret any module as production-ready unless explicitly validated.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4200" y="2142629"/>
          <a:ext cx="9143771" cy="914400"/>
        </p:xfrm>
        <a:graphic>
          <a:graphicData uri="http://schemas.openxmlformats.org/drawingml/2006/table">
            <a:tbl>
              <a:tblPr/>
              <a:tblGrid>
                <a:gridCol w="3753153"/>
                <a:gridCol w="4021235"/>
                <a:gridCol w="2948906"/>
              </a:tblGrid>
              <a:tr h="515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Module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Function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Algorithm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</a:tr>
              <a:tr h="525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Ambulance Dispatch</a:t>
                      </a:r>
                      <a:endParaRPr lang="en-US" sz="14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Assign suitable ambulance to emergency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 Assignment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5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Route Optimization</a:t>
                      </a:r>
                      <a:endParaRPr lang="en-US" sz="14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Shortest / optimized emergency routes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Dijkstra + Bitmask DP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5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Hospital Selection</a:t>
                      </a:r>
                      <a:endParaRPr lang="en-US" sz="14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Choose hospital by availability + constraints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Greedy + Flow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5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Bed Allocation</a:t>
                      </a:r>
                      <a:endParaRPr lang="en-US" sz="14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Allocate limited beds via flow model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Max Flow / Dinic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5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Doctor Assignment</a:t>
                      </a:r>
                      <a:endParaRPr lang="en-US" sz="14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Match patients with appropriate doctors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Bipartite Matching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5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Emergency Handling</a:t>
                      </a:r>
                      <a:endParaRPr lang="en-US" sz="14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Prioritize + allocate for multiple incidents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Priority Queue + DP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2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Medical Search</a:t>
                      </a:r>
                      <a:endParaRPr lang="en-US" sz="14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Fast + fuzzy patient record retrieval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KMP / Rabin-Karp + Edit Distance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0706" marR="18070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4200" y="2647259"/>
            <a:ext cx="10723294" cy="1129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34200" y="3172709"/>
            <a:ext cx="10723294" cy="1129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34200" y="3698158"/>
            <a:ext cx="10723294" cy="1129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34200" y="4223607"/>
            <a:ext cx="10723294" cy="1129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34200" y="4749057"/>
            <a:ext cx="10723294" cy="1129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34200" y="5274506"/>
            <a:ext cx="10723294" cy="1129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34200" y="5799956"/>
            <a:ext cx="10723294" cy="1129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74080"/>
            <a:ext cx="10723294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DSA-III Algorithms Used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34200" y="934541"/>
            <a:ext cx="11332879" cy="11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Nine distinct algorithms from the DSA-III curriculum are integrated across the system's modules. Each algorithm is mapped to a specific operational problem in the emergency dispatch pipeline.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1104106"/>
            <a:ext cx="10723294" cy="60483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991" y="1335484"/>
            <a:ext cx="141978" cy="1419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4225" y="1211461"/>
            <a:ext cx="10175918" cy="1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Dijkstra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174225" y="1372195"/>
            <a:ext cx="10175918" cy="22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Ambulance routing</a:t>
            </a:r>
            <a:endParaRPr lang="en-US" sz="7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Shortest path on weighted road graph; O((V+E) log V)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1757660"/>
            <a:ext cx="10723294" cy="604838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1991" y="1989038"/>
            <a:ext cx="141978" cy="14198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74225" y="1865015"/>
            <a:ext cx="10175918" cy="1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Assignment / Matching</a:t>
            </a:r>
            <a:endParaRPr lang="en-US" sz="800" dirty="0"/>
          </a:p>
        </p:txBody>
      </p:sp>
      <p:sp>
        <p:nvSpPr>
          <p:cNvPr id="11" name="Text 5"/>
          <p:cNvSpPr/>
          <p:nvPr/>
        </p:nvSpPr>
        <p:spPr>
          <a:xfrm>
            <a:off x="1174225" y="2025749"/>
            <a:ext cx="10175918" cy="22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Ambulance assignment</a:t>
            </a:r>
            <a:endParaRPr lang="en-US" sz="7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Optimal unit-to-emergency pairing; Hungarian O(n³)</a:t>
            </a:r>
            <a:endParaRPr lang="en-US" sz="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4200" y="2411214"/>
            <a:ext cx="10723294" cy="604838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1991" y="2642592"/>
            <a:ext cx="141978" cy="14198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174225" y="2518569"/>
            <a:ext cx="10175918" cy="1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Bitmask DP</a:t>
            </a:r>
            <a:endParaRPr lang="en-US" sz="800" dirty="0"/>
          </a:p>
        </p:txBody>
      </p:sp>
      <p:sp>
        <p:nvSpPr>
          <p:cNvPr id="15" name="Text 7"/>
          <p:cNvSpPr/>
          <p:nvPr/>
        </p:nvSpPr>
        <p:spPr>
          <a:xfrm>
            <a:off x="1174225" y="2679303"/>
            <a:ext cx="10175918" cy="22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Multi-stop routing</a:t>
            </a:r>
            <a:endParaRPr lang="en-US" sz="7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Optimize small route sets; O(2ⁿ · n)</a:t>
            </a:r>
            <a:endParaRPr lang="en-US" sz="7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4200" y="3064768"/>
            <a:ext cx="10723294" cy="604838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1991" y="3296146"/>
            <a:ext cx="141978" cy="14198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174225" y="3172123"/>
            <a:ext cx="10175918" cy="1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Max Flow / Dinic</a:t>
            </a:r>
            <a:endParaRPr lang="en-US" sz="800" dirty="0"/>
          </a:p>
        </p:txBody>
      </p:sp>
      <p:sp>
        <p:nvSpPr>
          <p:cNvPr id="19" name="Text 9"/>
          <p:cNvSpPr/>
          <p:nvPr/>
        </p:nvSpPr>
        <p:spPr>
          <a:xfrm>
            <a:off x="1174225" y="3332857"/>
            <a:ext cx="10175918" cy="22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Bed allocation</a:t>
            </a:r>
            <a:endParaRPr lang="en-US" sz="7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Capacity-aware allocation; O(V² · E)</a:t>
            </a:r>
            <a:endParaRPr lang="en-US" sz="7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4200" y="3718322"/>
            <a:ext cx="10723294" cy="604838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1991" y="3949700"/>
            <a:ext cx="141978" cy="141982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74225" y="3825677"/>
            <a:ext cx="10175918" cy="1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Bipartite Matching</a:t>
            </a:r>
            <a:endParaRPr lang="en-US" sz="800" dirty="0"/>
          </a:p>
        </p:txBody>
      </p:sp>
      <p:sp>
        <p:nvSpPr>
          <p:cNvPr id="23" name="Text 11"/>
          <p:cNvSpPr/>
          <p:nvPr/>
        </p:nvSpPr>
        <p:spPr>
          <a:xfrm>
            <a:off x="1174225" y="3986411"/>
            <a:ext cx="10175918" cy="22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Doctor assignment</a:t>
            </a:r>
            <a:endParaRPr lang="en-US" sz="7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Patient–doctor matching; O(V · E)</a:t>
            </a:r>
            <a:endParaRPr lang="en-US" sz="7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4200" y="4371876"/>
            <a:ext cx="10723294" cy="604838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1991" y="4603254"/>
            <a:ext cx="141978" cy="141982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1174225" y="4479230"/>
            <a:ext cx="10175918" cy="1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KMP / Rabin-Karp</a:t>
            </a:r>
            <a:endParaRPr lang="en-US" sz="800" dirty="0"/>
          </a:p>
        </p:txBody>
      </p:sp>
      <p:sp>
        <p:nvSpPr>
          <p:cNvPr id="27" name="Text 13"/>
          <p:cNvSpPr/>
          <p:nvPr/>
        </p:nvSpPr>
        <p:spPr>
          <a:xfrm>
            <a:off x="1174225" y="4639965"/>
            <a:ext cx="10175918" cy="22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Medical record search</a:t>
            </a:r>
            <a:endParaRPr lang="en-US" sz="7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Fast exact pattern search; O(n + m)</a:t>
            </a:r>
            <a:endParaRPr lang="en-US" sz="7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4200" y="5025430"/>
            <a:ext cx="10723294" cy="604838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61991" y="5256808"/>
            <a:ext cx="141978" cy="141982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1174225" y="5132784"/>
            <a:ext cx="10175918" cy="1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Edit Distance (Wagner-Fischer DP)</a:t>
            </a:r>
            <a:endParaRPr lang="en-US" sz="800" dirty="0"/>
          </a:p>
        </p:txBody>
      </p:sp>
      <p:sp>
        <p:nvSpPr>
          <p:cNvPr id="31" name="Text 15"/>
          <p:cNvSpPr/>
          <p:nvPr/>
        </p:nvSpPr>
        <p:spPr>
          <a:xfrm>
            <a:off x="1174225" y="5293519"/>
            <a:ext cx="10175918" cy="22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Fuzzy search</a:t>
            </a:r>
            <a:endParaRPr lang="en-US" sz="7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Handle spelling variation; O(m · n)</a:t>
            </a:r>
            <a:endParaRPr lang="en-US" sz="700" dirty="0"/>
          </a:p>
        </p:txBody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34200" y="5678984"/>
            <a:ext cx="10723294" cy="604838"/>
          </a:xfrm>
          <a:prstGeom prst="rect">
            <a:avLst/>
          </a:prstGeom>
        </p:spPr>
      </p:pic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61991" y="5910362"/>
            <a:ext cx="141978" cy="141982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1174225" y="5786338"/>
            <a:ext cx="10175918" cy="1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TSP Approximation</a:t>
            </a:r>
            <a:endParaRPr lang="en-US" sz="800" dirty="0"/>
          </a:p>
        </p:txBody>
      </p:sp>
      <p:sp>
        <p:nvSpPr>
          <p:cNvPr id="35" name="Text 17"/>
          <p:cNvSpPr/>
          <p:nvPr/>
        </p:nvSpPr>
        <p:spPr>
          <a:xfrm>
            <a:off x="1174225" y="5947073"/>
            <a:ext cx="10175918" cy="22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Large-scale routing</a:t>
            </a:r>
            <a:endParaRPr lang="en-US" sz="7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Role:</a:t>
            </a:r>
            <a:pPr algn="l" indent="0" marL="0">
              <a:lnSpc>
                <a:spcPct val="101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Near-optimal scalable routing; O(n² log n)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34095"/>
            <a:ext cx="10723294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Working Module: Emergency Dispatch Demo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734200" y="951508"/>
            <a:ext cx="772498" cy="16113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7798" y="983258"/>
            <a:ext cx="1254887" cy="97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SIMULATED DATA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734200" y="1181596"/>
            <a:ext cx="1133287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following example demonstrates the dispatch pipeline for a single critical emergency. All values are simulated and should be replaced with actual project output where available.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7705" y="1384498"/>
            <a:ext cx="5385161" cy="1046956"/>
          </a:xfrm>
          <a:prstGeom prst="roundRect">
            <a:avLst>
              <a:gd name="adj" fmla="val 24329"/>
            </a:avLst>
          </a:prstGeom>
          <a:solidFill>
            <a:srgbClr val="2563EB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63767" y="1445816"/>
            <a:ext cx="5173037" cy="147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Emergency E102 — 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3767" y="1654572"/>
            <a:ext cx="5173037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Severity:</a:t>
            </a:r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Critical</a:t>
            </a:r>
            <a:endParaRPr lang="en-US" sz="800" dirty="0"/>
          </a:p>
          <a:p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Location:</a:t>
            </a:r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Patient Area A</a:t>
            </a:r>
            <a:endParaRPr lang="en-US" sz="800" dirty="0"/>
          </a:p>
          <a:p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Required:</a:t>
            </a:r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Cardiac specialization</a:t>
            </a:r>
            <a:endParaRPr lang="en-US" sz="800" dirty="0"/>
          </a:p>
          <a:p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Available Ambulances:</a:t>
            </a:r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A05, A07, A12</a:t>
            </a:r>
            <a:endParaRPr lang="en-US" sz="800" dirty="0"/>
          </a:p>
          <a:p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Nearest Hospital:</a:t>
            </a:r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H02 (Cardiac unit available)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31675" y="1445816"/>
            <a:ext cx="5232170" cy="147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Dispatch Output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31675" y="1654572"/>
            <a:ext cx="523217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Assigned Ambulance:</a:t>
            </a:r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A07</a:t>
            </a:r>
            <a:endParaRPr lang="en-US" sz="800" dirty="0"/>
          </a:p>
          <a:p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Route:</a:t>
            </a:r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Depot → Patient Area A → Hospital H02</a:t>
            </a:r>
            <a:endParaRPr lang="en-US" sz="800" dirty="0"/>
          </a:p>
          <a:p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Algorithm:</a:t>
            </a:r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Dijkstra (shortest path)</a:t>
            </a:r>
            <a:endParaRPr lang="en-US" sz="800" dirty="0"/>
          </a:p>
          <a:p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Multi-stop fallback:</a:t>
            </a:r>
            <a:pPr algn="l" marL="162560" indent="-16256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Bitmask DP / TSP Approximation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88" y="2500412"/>
            <a:ext cx="9631221" cy="34865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87264" y="5152648"/>
            <a:ext cx="2144599" cy="268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Extend to H02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987264" y="4101768"/>
            <a:ext cx="2144599" cy="268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Compute Route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987264" y="3040165"/>
            <a:ext cx="2144599" cy="268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Dispatch A07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34200" y="6055916"/>
            <a:ext cx="10723294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single-destination routing, </a:t>
            </a:r>
            <a:pPr algn="l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Dijkstra</a:t>
            </a:r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computes the optimal path on the weighted road graph. When multiple pickup or drop-off stops are required, </a:t>
            </a:r>
            <a:pPr algn="l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Bitmask DP</a:t>
            </a:r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(for small n) or </a:t>
            </a:r>
            <a:pPr algn="l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TSP Approximation</a:t>
            </a:r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(for larger n) is applied to minimize total travel time across all waypoints.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04825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Working Module: Resource Allocation via Network Flow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4200" y="851595"/>
            <a:ext cx="667924" cy="13940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9265" y="879078"/>
            <a:ext cx="1167379" cy="8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SIMULATED DATA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734200" y="1042591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Bed allocation is modeled as a maximum flow problem. Patients are sources, hospitals are intermediate nodes with capacity constraints, and the sink represents successful allocation. The Dinic algorithm ensures no hospital exceeds its available bed count.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4200" y="1250156"/>
            <a:ext cx="5249731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Flow Network Structure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4200" y="1423491"/>
            <a:ext cx="5859316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SOURCE → PATIENTS → HOSPITALS → CAPACITY → SINK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34200" y="1574899"/>
            <a:ext cx="5249731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Source node connects to each patient with capacity 1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patient connects to eligible hospitals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Hospital nodes have capacity = available beds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Hospital connects to sink with bed-count capacity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4200" y="2104628"/>
            <a:ext cx="5249731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Algorithm: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Max Flow / Dinic — O(V² · E)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constraint: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Allocation cannot exceed hospital capacity at any node.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48035" y="1204317"/>
            <a:ext cx="5381887" cy="1305123"/>
          </a:xfrm>
          <a:prstGeom prst="roundRect">
            <a:avLst>
              <a:gd name="adj" fmla="val 16879"/>
            </a:avLst>
          </a:prstGeom>
          <a:solidFill>
            <a:srgbClr val="2563EB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39810" y="1250156"/>
            <a:ext cx="519833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Simulated Hospital Capacities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39810" y="1423491"/>
            <a:ext cx="5198337" cy="362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Hospital H1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2 available beds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Hospital H2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5 available beds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Hospital H3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1 available bed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239810" y="1831677"/>
            <a:ext cx="519833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Expected Flow Output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39810" y="2005013"/>
            <a:ext cx="5198337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Max flow = min(total patients, total beds)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patient allocated to exactly one hospital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hospital over-allocated beyond capacity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Result: To be validated</a:t>
            </a:r>
            <a:endParaRPr lang="en-US" sz="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561034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04825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Working Module: Patient–Doctor Bipartite Matching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4200" y="851595"/>
            <a:ext cx="667924" cy="13940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9265" y="879078"/>
            <a:ext cx="1167379" cy="8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SIMULATED DATA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734200" y="1042591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Doctor assignment is modeled as a bipartite matching problem. The left partition contains patients (with required specialization), and the right partition contains available doctors. Edges exist where a doctor's specialization, availability, and workload permit assignment.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68122" y="1204317"/>
            <a:ext cx="5381887" cy="1010444"/>
          </a:xfrm>
          <a:prstGeom prst="roundRect">
            <a:avLst>
              <a:gd name="adj" fmla="val 21801"/>
            </a:avLst>
          </a:prstGeom>
          <a:solidFill>
            <a:srgbClr val="16D9FF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59897" y="1250156"/>
            <a:ext cx="519833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Matching Criteria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9897" y="1423491"/>
            <a:ext cx="5198337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Specialization: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Doctor must match required field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Availability: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Doctor must not be in active case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Priority: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Critical patients matched first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Workload: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Load-balanced across available doctors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59897" y="1953220"/>
            <a:ext cx="5198337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Algorithm: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Bipartite Matching / Hungarian Assignment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Complexity: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O(V · E)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214113" y="1250156"/>
            <a:ext cx="5249731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Simulated Matching Output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4113" y="1423491"/>
            <a:ext cx="5249731" cy="362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P1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(Cardiac arrest) →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Cardiologist Dr. C1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P2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(Head trauma) →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Neurologist Dr. N2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P3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(Fracture) →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Orthopedic Specialist Dr. O1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14113" y="1827113"/>
            <a:ext cx="5249731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Unmatched patients (no available specialist) are queued and re-evaluated on next scheduling cycle.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Result: To be validated</a:t>
            </a:r>
            <a:endParaRPr lang="en-US" sz="7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266355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76759"/>
            <a:ext cx="10723294" cy="39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Medical Record Search: String Algorithms + DP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34200" y="1182390"/>
            <a:ext cx="10723294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medical record search module demonstrates two complementary string-processing techniques: exact pattern matching via KMP / Rabin-Karp, and approximate (fuzzy) matching via Edit Distance (Wagner-Fischer DP). Together they handle both precise queries and real-world spelling errors in clinical notes.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33000" y="1700510"/>
            <a:ext cx="5392603" cy="2004814"/>
          </a:xfrm>
          <a:prstGeom prst="roundRect">
            <a:avLst>
              <a:gd name="adj" fmla="val 16825"/>
            </a:avLst>
          </a:prstGeom>
          <a:solidFill>
            <a:srgbClr val="2563EB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3490" y="1808063"/>
            <a:ext cx="5111622" cy="19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Exact Search — KMP / Rabin-Karp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3490" y="2110780"/>
            <a:ext cx="5721207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Query: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3270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"cardiac arrest"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3490" y="2406154"/>
            <a:ext cx="5111622" cy="906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Scans patient records, emergency descriptions, and medical notes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KMP builds failure function in O(m), then scans in O(n)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Rabin-Karp uses rolling hash for multi-pattern search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Returns all records containing exact match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3490" y="3409950"/>
            <a:ext cx="5721207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Complexity: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O(n + m) per document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73643" y="1808063"/>
            <a:ext cx="5190201" cy="19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Fuzzy Search — Edit Distance (Wagner-Fischer DP)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73643" y="2110780"/>
            <a:ext cx="579978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Misspelled query: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"cardic"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corrected to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"cardiac"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73643" y="2406154"/>
            <a:ext cx="5190201" cy="906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Computes minimum edit operations (insert, delete, substitute)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Wagner-Fischer fills an (m+1)×(n+1) DP table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Matches returned if edit distance ≤ threshold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Handles real-world clinical note spelling variation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73643" y="3409950"/>
            <a:ext cx="579978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Complexity: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O(m · n) per candidate string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4200" y="3826371"/>
            <a:ext cx="5307872" cy="777280"/>
          </a:xfrm>
          <a:prstGeom prst="roundRect">
            <a:avLst>
              <a:gd name="adj" fmla="val 27123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3740" y="3985915"/>
            <a:ext cx="4988792" cy="19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Input: Patient Record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3740" y="4245570"/>
            <a:ext cx="4988792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Free-text clinical notes, emergency descriptions, diagnosis fields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9623" y="3826371"/>
            <a:ext cx="5307872" cy="777280"/>
          </a:xfrm>
          <a:prstGeom prst="roundRect">
            <a:avLst>
              <a:gd name="adj" fmla="val 27123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162" y="3985915"/>
            <a:ext cx="4988792" cy="19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KMP Exact Match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162" y="4245570"/>
            <a:ext cx="4988792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Failure function preprocessed on pattern; linear scan on text corpus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4200" y="4711204"/>
            <a:ext cx="5307872" cy="777280"/>
          </a:xfrm>
          <a:prstGeom prst="roundRect">
            <a:avLst>
              <a:gd name="adj" fmla="val 27123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3740" y="4870748"/>
            <a:ext cx="4988792" cy="19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Edit Distance Fuzzy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3740" y="5130403"/>
            <a:ext cx="4988792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DP table computed for each candidate; threshold-filtered results returned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49623" y="4711204"/>
            <a:ext cx="5307872" cy="777280"/>
          </a:xfrm>
          <a:prstGeom prst="roundRect">
            <a:avLst>
              <a:gd name="adj" fmla="val 27123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162" y="4870748"/>
            <a:ext cx="4988792" cy="19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Output: Ranked Results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162" y="5130403"/>
            <a:ext cx="4988792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Exact matches ranked first; fuzzy matches ranked by edit distance 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4200" y="5609530"/>
            <a:ext cx="10723294" cy="671711"/>
          </a:xfrm>
          <a:prstGeom prst="roundRect">
            <a:avLst>
              <a:gd name="adj" fmla="val 31386"/>
            </a:avLst>
          </a:prstGeom>
          <a:solidFill>
            <a:srgbClr val="00805A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691" y="5768975"/>
            <a:ext cx="175613" cy="14049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90794" y="5752207"/>
            <a:ext cx="10126211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module demonstrates how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String Algorithms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(KMP, Rabin-Karp) and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Advanced DP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(Wagner-Fischer Edit Distance) are applied directly to the healthcare domain — not just as theoretical constructs.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04825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Handling Multiple Concurrent Emergencies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4200" y="851595"/>
            <a:ext cx="667924" cy="13940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9265" y="879078"/>
            <a:ext cx="1167379" cy="8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SIMULATED DATA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734200" y="1042591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most complex scenario: three simultaneous emergencies competing for a constrained resource pool. The system must jointly optimize dispatch, bed allocation, and doctor assignment using a combination of Network Flow, Assignment, and DP algorithms.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68122" y="1204317"/>
            <a:ext cx="5381887" cy="1179016"/>
          </a:xfrm>
          <a:prstGeom prst="roundRect">
            <a:avLst>
              <a:gd name="adj" fmla="val 18684"/>
            </a:avLst>
          </a:prstGeom>
          <a:solidFill>
            <a:srgbClr val="16D9FF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59897" y="1250156"/>
            <a:ext cx="519833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Concurrent Emergencies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9897" y="1423491"/>
            <a:ext cx="5198337" cy="362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E1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Cardiac arrest (Critical, Priority 10)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E2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Road accident (High, Priority 8)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E3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Surgical emergency (Medium, Priority 5)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59897" y="1831677"/>
            <a:ext cx="519833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Limited Resource Pool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9897" y="2005013"/>
            <a:ext cx="5198337" cy="362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 Ambulances available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ICU Beds available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 Surgeon available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214113" y="1250156"/>
            <a:ext cx="5249731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Algorithm Roles in This Scenario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4113" y="1423491"/>
            <a:ext cx="5249731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Priority Queue: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Orders E1 → E2 → E3 for processing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Assignment: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Maps each emergency to best available ambulance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Network Flow (Dinic):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Allocates 2 ICU beds across 3 competing patients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Bipartite Matching: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Assigns the single surgeon to highest-priority surgical case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DP Scheduler: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Maximizes total priority served under all constraints jointly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214113" y="2079327"/>
            <a:ext cx="5859316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Result: To be validated against actual project output.</a:t>
            </a:r>
            <a:endParaRPr lang="en-US" sz="7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434927"/>
            <a:ext cx="10723294" cy="48256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349461" y="2709461"/>
            <a:ext cx="1876576" cy="25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Priority Queue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349461" y="3049728"/>
            <a:ext cx="1876576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 emergencies enter queue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205416" y="6328663"/>
            <a:ext cx="1886888" cy="25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Assignment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205416" y="6668930"/>
            <a:ext cx="1886888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Map each case to ambulance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040749" y="2673372"/>
            <a:ext cx="1876577" cy="25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40749" y="3013639"/>
            <a:ext cx="187657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Dijkstra finds nearest hospital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896703" y="6112774"/>
            <a:ext cx="1876576" cy="515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Resource Allocation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896703" y="6710819"/>
            <a:ext cx="1876576" cy="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Dinic &amp; matching assign beds and surgeon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734200" y="7312124"/>
            <a:ext cx="5338728" cy="461367"/>
          </a:xfrm>
          <a:prstGeom prst="roundRect">
            <a:avLst>
              <a:gd name="adj" fmla="val 29842"/>
            </a:avLst>
          </a:prstGeom>
          <a:solidFill>
            <a:srgbClr val="0A081B"/>
          </a:solidFill>
          <a:ln w="6350">
            <a:solidFill>
              <a:srgbClr val="16FFB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325" y="7410252"/>
            <a:ext cx="5142478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Network Flow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32325" y="7565231"/>
            <a:ext cx="514247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Bed allocation under capacity — Dinic O(V²·E)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118766" y="7312124"/>
            <a:ext cx="5338728" cy="461367"/>
          </a:xfrm>
          <a:prstGeom prst="roundRect">
            <a:avLst>
              <a:gd name="adj" fmla="val 29842"/>
            </a:avLst>
          </a:prstGeom>
          <a:solidFill>
            <a:srgbClr val="0A081B"/>
          </a:solidFill>
          <a:ln w="6350">
            <a:solidFill>
              <a:srgbClr val="29DD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6891" y="7410252"/>
            <a:ext cx="5142478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Assignment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216891" y="7565231"/>
            <a:ext cx="514247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Ambulance-to-emergency mapping — Hungarian O(n³)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734200" y="7819330"/>
            <a:ext cx="5338728" cy="461367"/>
          </a:xfrm>
          <a:prstGeom prst="roundRect">
            <a:avLst>
              <a:gd name="adj" fmla="val 29842"/>
            </a:avLst>
          </a:prstGeom>
          <a:solidFill>
            <a:srgbClr val="0A081B"/>
          </a:solidFill>
          <a:ln w="6350">
            <a:solidFill>
              <a:srgbClr val="37A7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2325" y="7917458"/>
            <a:ext cx="5142478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DP Scheduler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32325" y="8072437"/>
            <a:ext cx="514247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Joint optimization across all constraints — O(2ⁿ·n)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118766" y="7819330"/>
            <a:ext cx="5338728" cy="461367"/>
          </a:xfrm>
          <a:prstGeom prst="roundRect">
            <a:avLst>
              <a:gd name="adj" fmla="val 29842"/>
            </a:avLst>
          </a:prstGeom>
          <a:solidFill>
            <a:srgbClr val="0A081B"/>
          </a:solidFill>
          <a:ln w="6350">
            <a:solidFill>
              <a:srgbClr val="09123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6891" y="7917458"/>
            <a:ext cx="5142478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Bipartite Match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16891" y="8072437"/>
            <a:ext cx="514247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Surgeon assignment to critical case — O(V·E)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2026-09-18T06:09:53Z</dcterms:created>
  <dcterms:modified xsi:type="dcterms:W3CDTF">2026-09-18T06:09:53Z</dcterms:modified>
</cp:coreProperties>
</file>